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4630400" cy="8229600"/>
  <p:notesSz cx="8229600" cy="146304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Montserrat Bold" pitchFamily="2" charset="-52"/>
      <p:bold r:id="rId26"/>
    </p:embeddedFont>
    <p:embeddedFont>
      <p:font typeface="Montserrat Light" pitchFamily="2" charset="-52"/>
      <p:regular r:id="rId27"/>
      <p:italic r:id="rId28"/>
    </p:embeddedFont>
    <p:embeddedFont>
      <p:font typeface="Source Sans 3" panose="020B0303030403020204" pitchFamily="34" charset="0"/>
      <p:regular r:id="rId29"/>
      <p:bold r:id="rId30"/>
      <p:italic r:id="rId31"/>
      <p:boldItalic r:id="rId3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uchsjinx@gmail.com" initials="f" lastIdx="5" clrIdx="0">
    <p:extLst>
      <p:ext uri="{19B8F6BF-5375-455C-9EA6-DF929625EA0E}">
        <p15:presenceInfo xmlns:p15="http://schemas.microsoft.com/office/powerpoint/2012/main" userId="483df2f71173170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18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23T19:35:11.241" idx="1">
    <p:pos x="7146" y="2622"/>
    <p:text>Депонирование — это передача денежных средств, ценных бумаг или других активов на временное хранение в специализированную организацию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23T19:41:19.255" idx="2">
    <p:pos x="2110" y="3380"/>
    <p:text>Термин full-responsive может быть связан с концепцией полного адаптивного дизайна (full-responsive design), которая подразумевает комплексное решение для корректного отображения веб-страниц на различных устройствах с учётом всех возможных размеров экранов и разрешений.</p:text>
    <p:extLst>
      <p:ext uri="{C676402C-5697-4E1C-873F-D02D1690AC5C}">
        <p15:threadingInfo xmlns:p15="http://schemas.microsoft.com/office/powerpoint/2012/main" timeZoneBias="-180"/>
      </p:ext>
    </p:extLst>
  </p:cm>
  <p:cm authorId="1" dt="2026-04-23T19:42:11.721" idx="3">
    <p:pos x="1832" y="3838"/>
    <p:text>Аббревиатура расшифровывается как Atomicity (атомарность), Consistency (согласованность), Isolation (изолированность) и Durability (долговечность</p:text>
    <p:extLst>
      <p:ext uri="{C676402C-5697-4E1C-873F-D02D1690AC5C}">
        <p15:threadingInfo xmlns:p15="http://schemas.microsoft.com/office/powerpoint/2012/main" timeZoneBias="-180"/>
      </p:ext>
    </p:extLst>
  </p:cm>
  <p:cm authorId="1" dt="2026-04-23T19:42:39.964" idx="4">
    <p:pos x="3185" y="3609"/>
    <p:text>RPS (Requests Per Second) — это метрика, которая указывает количество запросов, которые сервер или система может обрабатывать в секунду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23T19:55:53.027" idx="5">
    <p:pos x="4530" y="1556"/>
    <p:text>Описать реальные проблемы</p:text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633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1-7mhFfsXT2pDN4z5vYdkWs0BqnDgpSu5LAvlKbcKaKw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RW9IpYSdksEtEWKxD4l4UHHZKeqMb_QzlF8XSnzcMGQ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figma.com/design/oBB3tKDgPnpHQt9vAnei7I/Rento?node-id=0-1&amp;p=f&amp;t=S5FkkOWLhgfNqu2V-0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rello.com/b/FZHRKeAm/rento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ento-devteam/Rento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hyperlink" Target="https://194.135.36.13.nip.io/" TargetMode="External"/><Relationship Id="rId9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comments" Target="../comments/comment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49" y="621625"/>
            <a:ext cx="5239583" cy="6986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0198" y="3208853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Rento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350198" y="4280297"/>
            <a:ext cx="7416403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Web-сервис для краткосрочной аренды вещей между людьми — выставляйте своё или арендуйте чужое в один клик.</a:t>
            </a:r>
            <a:endParaRPr lang="en-US" sz="1900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49" y="621625"/>
            <a:ext cx="5239583" cy="6986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0198" y="2002750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Проблема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350198" y="3074194"/>
            <a:ext cx="7416403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Человеку, которому нужно просверлить стену, помыть окна или снять GoPro на выходные, приходится искать варианты через сарафанное радио, WhatsApp/Telegram или «Авито».</a:t>
            </a:r>
            <a:endParaRPr lang="en-US" sz="1900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14191D4-39A8-4BAE-9837-77F434CA4999}"/>
              </a:ext>
            </a:extLst>
          </p:cNvPr>
          <p:cNvGrpSpPr/>
          <p:nvPr/>
        </p:nvGrpSpPr>
        <p:grpSpPr>
          <a:xfrm>
            <a:off x="6350198" y="4462343"/>
            <a:ext cx="7416403" cy="1764387"/>
            <a:chOff x="6350198" y="4462343"/>
            <a:chExt cx="7416403" cy="1764387"/>
          </a:xfrm>
        </p:grpSpPr>
        <p:sp>
          <p:nvSpPr>
            <p:cNvPr id="6" name="Shape 3"/>
            <p:cNvSpPr/>
            <p:nvPr/>
          </p:nvSpPr>
          <p:spPr>
            <a:xfrm>
              <a:off x="6350198" y="4462343"/>
              <a:ext cx="7416403" cy="1764387"/>
            </a:xfrm>
            <a:prstGeom prst="roundRect">
              <a:avLst>
                <a:gd name="adj" fmla="val 2098"/>
              </a:avLst>
            </a:prstGeom>
            <a:solidFill>
              <a:srgbClr val="FCF2B5"/>
            </a:solidFill>
            <a:ln/>
          </p:spPr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97015" y="4813935"/>
              <a:ext cx="308491" cy="246817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7152323" y="4770834"/>
              <a:ext cx="6367462" cy="11104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1900" dirty="0">
                  <a:solidFill>
                    <a:srgbClr val="000000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В России </a:t>
              </a:r>
              <a:r>
                <a:rPr lang="en-US" sz="1900" dirty="0" err="1">
                  <a:solidFill>
                    <a:srgbClr val="000000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нет</a:t>
              </a:r>
              <a:r>
                <a:rPr lang="en-US" sz="1900" dirty="0">
                  <a:solidFill>
                    <a:srgbClr val="000000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 </a:t>
              </a:r>
              <a:r>
                <a:rPr lang="ru-RU" sz="1900" dirty="0">
                  <a:solidFill>
                    <a:srgbClr val="000000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надежного</a:t>
              </a:r>
              <a:r>
                <a:rPr lang="en-US" sz="1900" dirty="0">
                  <a:solidFill>
                    <a:srgbClr val="000000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 сервиса для аренды вещей «у дома» в почасовую аренду без крупных залогов и дискомфортного общения с незнакомцами.</a:t>
              </a:r>
              <a:endParaRPr lang="en-US" sz="1900" dirty="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513284"/>
            <a:ext cx="560974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Цель и аудитория</a:t>
            </a:r>
            <a:endParaRPr lang="en-US" sz="4400" dirty="0"/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08B784C1-C625-4F90-91BF-C175BE51FA0B}"/>
              </a:ext>
            </a:extLst>
          </p:cNvPr>
          <p:cNvGrpSpPr/>
          <p:nvPr/>
        </p:nvGrpSpPr>
        <p:grpSpPr>
          <a:xfrm>
            <a:off x="686038" y="2584728"/>
            <a:ext cx="6505813" cy="4131588"/>
            <a:chOff x="686038" y="2584728"/>
            <a:chExt cx="6505813" cy="4131588"/>
          </a:xfrm>
        </p:grpSpPr>
        <p:sp>
          <p:nvSpPr>
            <p:cNvPr id="3" name="Shape 1"/>
            <p:cNvSpPr/>
            <p:nvPr/>
          </p:nvSpPr>
          <p:spPr>
            <a:xfrm>
              <a:off x="686038" y="2584728"/>
              <a:ext cx="6505813" cy="4131588"/>
            </a:xfrm>
            <a:prstGeom prst="roundRect">
              <a:avLst>
                <a:gd name="adj" fmla="val 896"/>
              </a:avLst>
            </a:prstGeom>
            <a:solidFill>
              <a:srgbClr val="2D2E34"/>
            </a:solidFill>
            <a:ln/>
          </p:spPr>
        </p:sp>
        <p:sp>
          <p:nvSpPr>
            <p:cNvPr id="4" name="Text 2"/>
            <p:cNvSpPr/>
            <p:nvPr/>
          </p:nvSpPr>
          <p:spPr>
            <a:xfrm>
              <a:off x="932855" y="2831544"/>
              <a:ext cx="2804874" cy="35063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Миссия</a:t>
              </a:r>
              <a:endParaRPr lang="en-US" sz="22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932855" y="3429000"/>
              <a:ext cx="6012180" cy="11104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1900" dirty="0" err="1">
                  <a:solidFill>
                    <a:srgbClr val="FFFFFF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Создать</a:t>
              </a:r>
              <a:r>
                <a:rPr lang="en-US" sz="1900" dirty="0">
                  <a:solidFill>
                    <a:srgbClr val="FFFFFF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 </a:t>
              </a:r>
              <a:r>
                <a:rPr lang="ru-RU" sz="1900" dirty="0">
                  <a:solidFill>
                    <a:srgbClr val="FFFFFF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надежную</a:t>
              </a:r>
              <a:r>
                <a:rPr lang="en-US" sz="1900" dirty="0">
                  <a:solidFill>
                    <a:srgbClr val="FFFFFF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 P2P-платформу краткосрочной аренды, превращающую неиспользуемые вещи россиян в источник заработка.</a:t>
              </a:r>
              <a:endParaRPr lang="en-US" sz="1900" dirty="0"/>
            </a:p>
          </p:txBody>
        </p:sp>
      </p:grp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AEE59B3F-9F21-4275-B89E-A0F11AC1BCB1}"/>
              </a:ext>
            </a:extLst>
          </p:cNvPr>
          <p:cNvGrpSpPr/>
          <p:nvPr/>
        </p:nvGrpSpPr>
        <p:grpSpPr>
          <a:xfrm>
            <a:off x="7623929" y="2831544"/>
            <a:ext cx="6150293" cy="2078117"/>
            <a:chOff x="7623929" y="2831544"/>
            <a:chExt cx="6150293" cy="2078117"/>
          </a:xfrm>
        </p:grpSpPr>
        <p:sp>
          <p:nvSpPr>
            <p:cNvPr id="6" name="Text 4"/>
            <p:cNvSpPr/>
            <p:nvPr/>
          </p:nvSpPr>
          <p:spPr>
            <a:xfrm>
              <a:off x="7623929" y="2831544"/>
              <a:ext cx="2804874" cy="35063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000000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Стек реализации</a:t>
              </a:r>
              <a:endParaRPr lang="en-US" sz="2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7623929" y="3429000"/>
              <a:ext cx="6150293" cy="14806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Высоконагруженное веб-приложение: </a:t>
              </a:r>
              <a:r>
                <a:rPr lang="en-US" sz="1900" b="1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PostgreSQL + NestJS + React</a:t>
              </a:r>
              <a:r>
                <a:rPr lang="en-US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 — от поиска вещи «по соседству» до безопасной сделки с автоматическим депонированием средств.</a:t>
              </a:r>
              <a:endParaRPr lang="en-US" sz="1900" dirty="0"/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E83B31A9-6F25-4AE7-A8AD-B0AF1282E2D3}"/>
              </a:ext>
            </a:extLst>
          </p:cNvPr>
          <p:cNvGrpSpPr/>
          <p:nvPr/>
        </p:nvGrpSpPr>
        <p:grpSpPr>
          <a:xfrm>
            <a:off x="7623929" y="5156478"/>
            <a:ext cx="6150293" cy="1337786"/>
            <a:chOff x="7623929" y="5156478"/>
            <a:chExt cx="6150293" cy="1337786"/>
          </a:xfrm>
        </p:grpSpPr>
        <p:sp>
          <p:nvSpPr>
            <p:cNvPr id="8" name="Text 6"/>
            <p:cNvSpPr/>
            <p:nvPr/>
          </p:nvSpPr>
          <p:spPr>
            <a:xfrm>
              <a:off x="7623929" y="5156478"/>
              <a:ext cx="3002518" cy="35063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000000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Целевая аудитория</a:t>
              </a:r>
              <a:endParaRPr lang="en-US" sz="2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623929" y="5753933"/>
              <a:ext cx="6150293" cy="7403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Люди, которым нужны дорогостоящие предметы в кратковременное пользование.</a:t>
              </a:r>
              <a:endParaRPr lang="en-US" sz="1900" dirty="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695093"/>
            <a:ext cx="6600825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Анализ и требования</a:t>
            </a:r>
            <a:endParaRPr lang="en-US" sz="4400" dirty="0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0BA0B50F-DBFE-4E8C-9BBC-C60C980C1E1F}"/>
              </a:ext>
            </a:extLst>
          </p:cNvPr>
          <p:cNvGrpSpPr/>
          <p:nvPr/>
        </p:nvGrpSpPr>
        <p:grpSpPr>
          <a:xfrm>
            <a:off x="863798" y="2890004"/>
            <a:ext cx="4136350" cy="3644503"/>
            <a:chOff x="863798" y="2890004"/>
            <a:chExt cx="4136350" cy="3644503"/>
          </a:xfrm>
        </p:grpSpPr>
        <p:sp>
          <p:nvSpPr>
            <p:cNvPr id="3" name="Shape 1"/>
            <p:cNvSpPr/>
            <p:nvPr/>
          </p:nvSpPr>
          <p:spPr>
            <a:xfrm>
              <a:off x="863798" y="2890004"/>
              <a:ext cx="4136350" cy="3644503"/>
            </a:xfrm>
            <a:prstGeom prst="roundRect">
              <a:avLst>
                <a:gd name="adj" fmla="val 1016"/>
              </a:avLst>
            </a:prstGeom>
            <a:solidFill>
              <a:srgbClr val="FFFFFF"/>
            </a:solidFill>
            <a:ln w="30480">
              <a:solidFill>
                <a:srgbClr val="D8D4D4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894278" y="2920484"/>
              <a:ext cx="4075390" cy="740450"/>
            </a:xfrm>
            <a:prstGeom prst="roundRect">
              <a:avLst>
                <a:gd name="adj" fmla="val 61"/>
              </a:avLst>
            </a:prstGeom>
            <a:solidFill>
              <a:srgbClr val="F2EEEE"/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2746891" y="3059311"/>
              <a:ext cx="370165" cy="4627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2900" b="1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1</a:t>
              </a:r>
              <a:endParaRPr lang="en-US" sz="2900" dirty="0"/>
            </a:p>
          </p:txBody>
        </p:sp>
        <p:sp>
          <p:nvSpPr>
            <p:cNvPr id="6" name="Text 4" descr="Анкетирование">
              <a:extLs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SpPr/>
            <p:nvPr/>
          </p:nvSpPr>
          <p:spPr>
            <a:xfrm>
              <a:off x="1141095" y="3907750"/>
              <a:ext cx="2804874" cy="3506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latin typeface="Montserrat Bold" pitchFamily="34" charset="0"/>
                  <a:ea typeface="Montserrat Bold" pitchFamily="34" charset="-122"/>
                  <a:cs typeface="Montserrat Bold" pitchFamily="34" charset="-120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Анкетирование</a:t>
              </a:r>
              <a:endParaRPr lang="en-US" sz="22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1141095" y="4406384"/>
              <a:ext cx="3581757" cy="14806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22 респондента, 14 вопросов — выявление болей, ожиданий и сценариев поведения целевой аудитории.</a:t>
              </a:r>
              <a:endParaRPr lang="en-US" sz="1900" dirty="0"/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B532B397-E40A-4FAA-BDFB-A9494479F28E}"/>
              </a:ext>
            </a:extLst>
          </p:cNvPr>
          <p:cNvGrpSpPr/>
          <p:nvPr/>
        </p:nvGrpSpPr>
        <p:grpSpPr>
          <a:xfrm>
            <a:off x="5246965" y="2890004"/>
            <a:ext cx="4136350" cy="3644503"/>
            <a:chOff x="5246965" y="2890004"/>
            <a:chExt cx="4136350" cy="3644503"/>
          </a:xfrm>
        </p:grpSpPr>
        <p:sp>
          <p:nvSpPr>
            <p:cNvPr id="8" name="Shape 6"/>
            <p:cNvSpPr/>
            <p:nvPr/>
          </p:nvSpPr>
          <p:spPr>
            <a:xfrm>
              <a:off x="5246965" y="2890004"/>
              <a:ext cx="4136350" cy="3644503"/>
            </a:xfrm>
            <a:prstGeom prst="roundRect">
              <a:avLst>
                <a:gd name="adj" fmla="val 1016"/>
              </a:avLst>
            </a:prstGeom>
            <a:solidFill>
              <a:srgbClr val="FFFFFF"/>
            </a:solidFill>
            <a:ln w="30480">
              <a:solidFill>
                <a:srgbClr val="D8D4D4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5277445" y="2920484"/>
              <a:ext cx="4075390" cy="740450"/>
            </a:xfrm>
            <a:prstGeom prst="roundRect">
              <a:avLst>
                <a:gd name="adj" fmla="val 61"/>
              </a:avLst>
            </a:prstGeom>
            <a:solidFill>
              <a:srgbClr val="F2EEEE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7130058" y="3059311"/>
              <a:ext cx="370165" cy="4627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2900" b="1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2</a:t>
              </a:r>
              <a:endParaRPr lang="en-US" sz="29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524262" y="3907750"/>
              <a:ext cx="3182183" cy="35063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Анализ конкурентов</a:t>
              </a:r>
              <a:endParaRPr lang="en-US" sz="2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5524262" y="4406384"/>
              <a:ext cx="3581757" cy="185082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Функциональный разбор двух прямых конкурентов: бизнес-модель, UX/UI, слабые места (безопасность, залоги, поддержка).</a:t>
              </a:r>
              <a:endParaRPr lang="en-US" sz="1900" dirty="0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9AF71997-0D02-44E5-BF98-E7392CE04032}"/>
              </a:ext>
            </a:extLst>
          </p:cNvPr>
          <p:cNvGrpSpPr/>
          <p:nvPr/>
        </p:nvGrpSpPr>
        <p:grpSpPr>
          <a:xfrm>
            <a:off x="9630132" y="2890004"/>
            <a:ext cx="4136350" cy="3644503"/>
            <a:chOff x="9630132" y="2890004"/>
            <a:chExt cx="4136350" cy="3644503"/>
          </a:xfrm>
        </p:grpSpPr>
        <p:sp>
          <p:nvSpPr>
            <p:cNvPr id="13" name="Shape 11"/>
            <p:cNvSpPr/>
            <p:nvPr/>
          </p:nvSpPr>
          <p:spPr>
            <a:xfrm>
              <a:off x="9630132" y="2890004"/>
              <a:ext cx="4136350" cy="3644503"/>
            </a:xfrm>
            <a:prstGeom prst="roundRect">
              <a:avLst>
                <a:gd name="adj" fmla="val 1016"/>
              </a:avLst>
            </a:prstGeom>
            <a:solidFill>
              <a:srgbClr val="FFFFFF"/>
            </a:solidFill>
            <a:ln w="30480">
              <a:solidFill>
                <a:srgbClr val="D8D4D4"/>
              </a:solidFill>
              <a:prstDash val="solid"/>
            </a:ln>
          </p:spPr>
        </p:sp>
        <p:sp>
          <p:nvSpPr>
            <p:cNvPr id="14" name="Shape 12"/>
            <p:cNvSpPr/>
            <p:nvPr/>
          </p:nvSpPr>
          <p:spPr>
            <a:xfrm>
              <a:off x="9660612" y="2920484"/>
              <a:ext cx="4075390" cy="740450"/>
            </a:xfrm>
            <a:prstGeom prst="roundRect">
              <a:avLst>
                <a:gd name="adj" fmla="val 61"/>
              </a:avLst>
            </a:prstGeom>
            <a:solidFill>
              <a:srgbClr val="F2EEEE"/>
            </a:solidFill>
            <a:ln/>
          </p:spPr>
        </p:sp>
        <p:sp>
          <p:nvSpPr>
            <p:cNvPr id="15" name="Text 13"/>
            <p:cNvSpPr/>
            <p:nvPr/>
          </p:nvSpPr>
          <p:spPr>
            <a:xfrm>
              <a:off x="11513225" y="3059311"/>
              <a:ext cx="370165" cy="46279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2900" b="1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3</a:t>
              </a:r>
              <a:endParaRPr lang="en-US" sz="29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9907429" y="3907750"/>
              <a:ext cx="3581757" cy="7012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Синтез и формализация</a:t>
              </a:r>
              <a:endParaRPr lang="en-US" sz="22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9907429" y="4757023"/>
              <a:ext cx="3581757" cy="148066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User Stories на </a:t>
              </a:r>
              <a:r>
                <a:rPr lang="en-US" sz="1900" dirty="0" err="1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основе</a:t>
              </a:r>
              <a:r>
                <a:rPr lang="en-US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 </a:t>
              </a:r>
              <a:r>
                <a:rPr lang="en-US" sz="1900" dirty="0" err="1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анкет</a:t>
              </a:r>
              <a:r>
                <a:rPr lang="ru-RU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,</a:t>
              </a:r>
              <a:r>
                <a:rPr lang="en-US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 </a:t>
              </a:r>
              <a:r>
                <a:rPr lang="en-US" sz="1900" dirty="0" err="1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архитектурные</a:t>
              </a:r>
              <a:r>
                <a:rPr lang="en-US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 </a:t>
              </a:r>
              <a:r>
                <a:rPr lang="en-US" sz="1900" dirty="0" err="1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ограничения</a:t>
              </a:r>
              <a:r>
                <a:rPr lang="ru-RU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,</a:t>
              </a:r>
              <a:r>
                <a:rPr lang="en-US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 учтены атомарные транзакции залога.</a:t>
              </a:r>
              <a:endParaRPr lang="en-US" sz="1900" dirty="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7349" y="621625"/>
            <a:ext cx="5239583" cy="6986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798" y="752832"/>
            <a:ext cx="7416403" cy="1402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Ключевые приоритеты системы</a:t>
            </a:r>
            <a:endParaRPr lang="en-US" sz="4400" dirty="0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F92EF501-98AA-44C7-8A23-FF3BD4900828}"/>
              </a:ext>
            </a:extLst>
          </p:cNvPr>
          <p:cNvGrpSpPr/>
          <p:nvPr/>
        </p:nvGrpSpPr>
        <p:grpSpPr>
          <a:xfrm>
            <a:off x="863798" y="2525554"/>
            <a:ext cx="7416403" cy="1732598"/>
            <a:chOff x="863798" y="2525554"/>
            <a:chExt cx="7416403" cy="1732598"/>
          </a:xfrm>
        </p:grpSpPr>
        <p:sp>
          <p:nvSpPr>
            <p:cNvPr id="5" name="Shape 2"/>
            <p:cNvSpPr/>
            <p:nvPr/>
          </p:nvSpPr>
          <p:spPr>
            <a:xfrm>
              <a:off x="863798" y="2525554"/>
              <a:ext cx="7416403" cy="1732598"/>
            </a:xfrm>
            <a:prstGeom prst="roundRect">
              <a:avLst>
                <a:gd name="adj" fmla="val 2137"/>
              </a:avLst>
            </a:prstGeom>
            <a:solidFill>
              <a:srgbClr val="F2EEEE"/>
            </a:solidFill>
            <a:ln/>
          </p:spPr>
        </p:sp>
        <p:sp>
          <p:nvSpPr>
            <p:cNvPr id="6" name="Text 3"/>
            <p:cNvSpPr/>
            <p:nvPr/>
          </p:nvSpPr>
          <p:spPr>
            <a:xfrm>
              <a:off x="1110615" y="2772370"/>
              <a:ext cx="3785116" cy="35063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Безопасность и доверие</a:t>
              </a:r>
              <a:endParaRPr lang="en-US" sz="22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1110615" y="3271004"/>
              <a:ext cx="6922770" cy="7403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Верификация через email + Telegram, защита данных, модерация контента</a:t>
              </a:r>
              <a:endParaRPr lang="en-US" sz="1900" dirty="0"/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3AE3F17D-C2B6-4506-A4AB-B94FC3C61939}"/>
              </a:ext>
            </a:extLst>
          </p:cNvPr>
          <p:cNvGrpSpPr/>
          <p:nvPr/>
        </p:nvGrpSpPr>
        <p:grpSpPr>
          <a:xfrm>
            <a:off x="863798" y="4504968"/>
            <a:ext cx="7416403" cy="1362432"/>
            <a:chOff x="863798" y="4504968"/>
            <a:chExt cx="7416403" cy="1362432"/>
          </a:xfrm>
        </p:grpSpPr>
        <p:sp>
          <p:nvSpPr>
            <p:cNvPr id="8" name="Shape 5"/>
            <p:cNvSpPr/>
            <p:nvPr/>
          </p:nvSpPr>
          <p:spPr>
            <a:xfrm>
              <a:off x="863798" y="4504968"/>
              <a:ext cx="7416403" cy="1362432"/>
            </a:xfrm>
            <a:prstGeom prst="roundRect">
              <a:avLst>
                <a:gd name="adj" fmla="val 2718"/>
              </a:avLst>
            </a:prstGeom>
            <a:solidFill>
              <a:srgbClr val="F2EEEE"/>
            </a:solidFill>
            <a:ln/>
          </p:spPr>
        </p:sp>
        <p:sp>
          <p:nvSpPr>
            <p:cNvPr id="9" name="Text 6"/>
            <p:cNvSpPr/>
            <p:nvPr/>
          </p:nvSpPr>
          <p:spPr>
            <a:xfrm>
              <a:off x="1110615" y="4751784"/>
              <a:ext cx="3968948" cy="35063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Автоматизация финансов</a:t>
              </a:r>
              <a:endParaRPr lang="en-US" sz="22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1110615" y="5250418"/>
              <a:ext cx="6922770" cy="3701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Эскроу-система, управление залогами, ACID-транзакции</a:t>
              </a:r>
              <a:endParaRPr lang="en-US" sz="1900" dirty="0"/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3A78A25C-5E2A-4A3E-8B33-141F3AE3FE97}"/>
              </a:ext>
            </a:extLst>
          </p:cNvPr>
          <p:cNvGrpSpPr/>
          <p:nvPr/>
        </p:nvGrpSpPr>
        <p:grpSpPr>
          <a:xfrm>
            <a:off x="863798" y="6114217"/>
            <a:ext cx="7416403" cy="1362432"/>
            <a:chOff x="863798" y="6114217"/>
            <a:chExt cx="7416403" cy="1362432"/>
          </a:xfrm>
        </p:grpSpPr>
        <p:sp>
          <p:nvSpPr>
            <p:cNvPr id="11" name="Shape 8"/>
            <p:cNvSpPr/>
            <p:nvPr/>
          </p:nvSpPr>
          <p:spPr>
            <a:xfrm>
              <a:off x="863798" y="6114217"/>
              <a:ext cx="7416403" cy="1362432"/>
            </a:xfrm>
            <a:prstGeom prst="roundRect">
              <a:avLst>
                <a:gd name="adj" fmla="val 2718"/>
              </a:avLst>
            </a:prstGeom>
            <a:solidFill>
              <a:srgbClr val="F2EEEE"/>
            </a:solidFill>
            <a:ln/>
          </p:spPr>
        </p:sp>
        <p:sp>
          <p:nvSpPr>
            <p:cNvPr id="12" name="Text 9"/>
            <p:cNvSpPr/>
            <p:nvPr/>
          </p:nvSpPr>
          <p:spPr>
            <a:xfrm>
              <a:off x="1110615" y="6361033"/>
              <a:ext cx="3020497" cy="35063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Масштабируемость</a:t>
              </a:r>
              <a:endParaRPr lang="en-US" sz="22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1110615" y="6859667"/>
              <a:ext cx="6922770" cy="3701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&lt;200ms на запрос, Elasticsearch </a:t>
              </a:r>
              <a:r>
                <a:rPr lang="en-US" sz="1900" dirty="0" err="1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для</a:t>
              </a:r>
              <a:r>
                <a:rPr lang="en-US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 </a:t>
              </a:r>
              <a:r>
                <a:rPr lang="en-US" sz="1900" dirty="0" err="1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поиска</a:t>
              </a:r>
              <a:endParaRPr lang="en-US" sz="1900" dirty="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494830"/>
            <a:ext cx="10172581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Спецификация требований (</a:t>
            </a:r>
            <a:r>
              <a:rPr lang="en-US" sz="4400" b="1" dirty="0">
                <a:latin typeface="Montserrat Bold" pitchFamily="34" charset="0"/>
                <a:ea typeface="Montserrat Bold" pitchFamily="34" charset="-122"/>
                <a:cs typeface="Montserrat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SRS</a:t>
            </a: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)</a:t>
            </a:r>
            <a:endParaRPr lang="en-US" sz="4400" dirty="0"/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06A63A35-724D-4DE8-A4A1-B3AE48AE1539}"/>
              </a:ext>
            </a:extLst>
          </p:cNvPr>
          <p:cNvGrpSpPr/>
          <p:nvPr/>
        </p:nvGrpSpPr>
        <p:grpSpPr>
          <a:xfrm>
            <a:off x="863798" y="2813090"/>
            <a:ext cx="6150293" cy="1707951"/>
            <a:chOff x="863798" y="2813090"/>
            <a:chExt cx="6150293" cy="1707951"/>
          </a:xfrm>
        </p:grpSpPr>
        <p:sp>
          <p:nvSpPr>
            <p:cNvPr id="3" name="Text 1"/>
            <p:cNvSpPr/>
            <p:nvPr/>
          </p:nvSpPr>
          <p:spPr>
            <a:xfrm>
              <a:off x="863798" y="2813090"/>
              <a:ext cx="2804874" cy="35063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000000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Архитектура</a:t>
              </a:r>
              <a:endParaRPr lang="en-US" sz="22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863798" y="3410545"/>
              <a:ext cx="6150293" cy="11104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GB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Frontend</a:t>
              </a:r>
              <a:r>
                <a:rPr lang="en-US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 на React. </a:t>
              </a:r>
              <a:r>
                <a:rPr lang="en-US" sz="1900" dirty="0" err="1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NestJS</a:t>
              </a:r>
              <a:r>
                <a:rPr lang="en-US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 </a:t>
              </a:r>
              <a:r>
                <a:rPr lang="ru-RU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для </a:t>
              </a:r>
              <a:r>
                <a:rPr lang="en-GB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Backend</a:t>
              </a:r>
              <a:r>
                <a:rPr lang="en-US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. PostgreSQL — хранилище данных. Интеграция с платёжной системой (заглушка) и SMTP для email-уведомлений.</a:t>
              </a:r>
              <a:endParaRPr lang="en-US" sz="1900" dirty="0"/>
            </a:p>
          </p:txBody>
        </p: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6E5F35B1-4C8F-411B-AD03-8ED3ADD122EC}"/>
              </a:ext>
            </a:extLst>
          </p:cNvPr>
          <p:cNvGrpSpPr/>
          <p:nvPr/>
        </p:nvGrpSpPr>
        <p:grpSpPr>
          <a:xfrm>
            <a:off x="863798" y="4767858"/>
            <a:ext cx="6150293" cy="1880592"/>
            <a:chOff x="863798" y="4767858"/>
            <a:chExt cx="6150293" cy="1880592"/>
          </a:xfrm>
        </p:grpSpPr>
        <p:sp>
          <p:nvSpPr>
            <p:cNvPr id="5" name="Text 3"/>
            <p:cNvSpPr/>
            <p:nvPr/>
          </p:nvSpPr>
          <p:spPr>
            <a:xfrm>
              <a:off x="863798" y="4767858"/>
              <a:ext cx="5364480" cy="35063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000000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Ограничения и критерии приёмки</a:t>
              </a:r>
              <a:endParaRPr lang="en-US" sz="2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863798" y="5365313"/>
              <a:ext cx="6150293" cy="12831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 algn="l">
                <a:lnSpc>
                  <a:spcPts val="2900"/>
                </a:lnSpc>
                <a:buSzPct val="100000"/>
                <a:buChar char="•"/>
              </a:pPr>
              <a:r>
                <a:rPr lang="en-US" sz="1900" b="1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React:</a:t>
              </a:r>
              <a:r>
                <a:rPr lang="en-US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 Full-responsive, ленивая загрузка</a:t>
              </a:r>
              <a:endParaRPr lang="en-US" sz="1900" dirty="0"/>
            </a:p>
            <a:p>
              <a:pPr marL="342900" indent="-342900" algn="l">
                <a:lnSpc>
                  <a:spcPts val="2900"/>
                </a:lnSpc>
                <a:buSzPct val="100000"/>
                <a:buChar char="•"/>
              </a:pPr>
              <a:r>
                <a:rPr lang="en-US" sz="1900" b="1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NestJS:</a:t>
              </a:r>
              <a:r>
                <a:rPr lang="en-US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 &lt;200ms на запрос при 500 RPS</a:t>
              </a:r>
              <a:endParaRPr lang="en-US" sz="1900" dirty="0"/>
            </a:p>
            <a:p>
              <a:pPr marL="342900" indent="-342900" algn="l">
                <a:lnSpc>
                  <a:spcPts val="2900"/>
                </a:lnSpc>
                <a:buSzPct val="100000"/>
                <a:buChar char="•"/>
              </a:pPr>
              <a:r>
                <a:rPr lang="en-US" sz="1900" b="1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PostgreSQL:</a:t>
              </a:r>
              <a:r>
                <a:rPr lang="en-US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 ACID-совместимость при транзакциях</a:t>
              </a:r>
              <a:endParaRPr lang="en-US" sz="1900" dirty="0"/>
            </a:p>
          </p:txBody>
        </p:sp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64AF6E16-5396-4FC7-9B1D-55383A21B005}"/>
              </a:ext>
            </a:extLst>
          </p:cNvPr>
          <p:cNvGrpSpPr/>
          <p:nvPr/>
        </p:nvGrpSpPr>
        <p:grpSpPr>
          <a:xfrm>
            <a:off x="7446169" y="2566273"/>
            <a:ext cx="6505813" cy="4168497"/>
            <a:chOff x="7446169" y="2566273"/>
            <a:chExt cx="6505813" cy="4168497"/>
          </a:xfrm>
        </p:grpSpPr>
        <p:sp>
          <p:nvSpPr>
            <p:cNvPr id="7" name="Shape 5"/>
            <p:cNvSpPr/>
            <p:nvPr/>
          </p:nvSpPr>
          <p:spPr>
            <a:xfrm>
              <a:off x="7446169" y="2566273"/>
              <a:ext cx="6505813" cy="4168497"/>
            </a:xfrm>
            <a:prstGeom prst="roundRect">
              <a:avLst>
                <a:gd name="adj" fmla="val 888"/>
              </a:avLst>
            </a:prstGeom>
            <a:solidFill>
              <a:srgbClr val="2D2E34"/>
            </a:solidFill>
            <a:ln/>
          </p:spPr>
        </p:sp>
        <p:sp>
          <p:nvSpPr>
            <p:cNvPr id="8" name="Text 6"/>
            <p:cNvSpPr/>
            <p:nvPr/>
          </p:nvSpPr>
          <p:spPr>
            <a:xfrm>
              <a:off x="7692985" y="2813090"/>
              <a:ext cx="4079200" cy="35063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Управление изменениями</a:t>
              </a:r>
              <a:endParaRPr lang="en-US" sz="2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692985" y="3410545"/>
              <a:ext cx="6012180" cy="7403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1900" dirty="0">
                  <a:solidFill>
                    <a:srgbClr val="FFFFFF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SRS — «живой документ». Любое изменение после Sprint Review обновляет истории версий.</a:t>
              </a:r>
              <a:endParaRPr lang="en-US" sz="19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7692985" y="4397693"/>
              <a:ext cx="3038356" cy="35063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Модель разработки</a:t>
              </a:r>
              <a:endParaRPr lang="en-US" sz="2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692985" y="4995148"/>
              <a:ext cx="6012180" cy="7403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1900" dirty="0">
                  <a:solidFill>
                    <a:srgbClr val="FFFFFF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Agile/Scrum. Независимые модули реализуются в отдельных спринтах.</a:t>
              </a:r>
              <a:endParaRPr lang="en-US" sz="1900" dirty="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3317" y="659368"/>
            <a:ext cx="5140285" cy="534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Архитектура системы</a:t>
            </a:r>
            <a:endParaRPr lang="en-US" sz="3350" dirty="0"/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B6A398FA-4A40-45B4-B477-D766F236132E}"/>
              </a:ext>
            </a:extLst>
          </p:cNvPr>
          <p:cNvGrpSpPr/>
          <p:nvPr/>
        </p:nvGrpSpPr>
        <p:grpSpPr>
          <a:xfrm>
            <a:off x="823317" y="1385945"/>
            <a:ext cx="12425209" cy="6328057"/>
            <a:chOff x="823317" y="1385945"/>
            <a:chExt cx="12425209" cy="6328057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3317" y="1385945"/>
              <a:ext cx="6012912" cy="632805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4" name="Text 1"/>
            <p:cNvSpPr/>
            <p:nvPr/>
          </p:nvSpPr>
          <p:spPr>
            <a:xfrm>
              <a:off x="7658423" y="2446616"/>
              <a:ext cx="2138720" cy="2672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50" b="1" dirty="0">
                  <a:solidFill>
                    <a:srgbClr val="000000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Frontend</a:t>
              </a:r>
              <a:endParaRPr lang="en-US" sz="165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7658423" y="2857381"/>
              <a:ext cx="5590103" cy="4974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GB" sz="145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Frontend</a:t>
              </a:r>
              <a:r>
                <a:rPr lang="en-US" sz="145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 на React (Mobile-first). Управление календарём, создание объявлений, бронирование.</a:t>
              </a:r>
              <a:endParaRPr lang="en-US" sz="145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7658423" y="3498295"/>
              <a:ext cx="2138720" cy="2672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50" b="1" dirty="0">
                  <a:solidFill>
                    <a:srgbClr val="000000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Backend (NestJS)</a:t>
              </a:r>
              <a:endParaRPr lang="en-US" sz="165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7658423" y="3909060"/>
              <a:ext cx="5590103" cy="49744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45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REST API Gateway + модули: Auth (email + Telegram 2FA), Listing &amp; Search (Elasticsearch), Booking (управление сделками).</a:t>
              </a:r>
              <a:endParaRPr lang="en-US" sz="14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7658423" y="4549974"/>
              <a:ext cx="2138720" cy="2672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50" b="1" dirty="0">
                  <a:solidFill>
                    <a:srgbClr val="000000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Service</a:t>
              </a:r>
              <a:endParaRPr lang="en-US" sz="165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7658423" y="4960739"/>
              <a:ext cx="5590103" cy="2487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45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Simple ARS (рейтинг пользователя).</a:t>
              </a:r>
              <a:endParaRPr lang="en-US" sz="145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7658423" y="5352931"/>
              <a:ext cx="2138720" cy="2672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en-US" sz="1650" b="1" dirty="0">
                  <a:solidFill>
                    <a:srgbClr val="000000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Data Layer</a:t>
              </a:r>
              <a:endParaRPr lang="en-US" sz="165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7658423" y="5763697"/>
              <a:ext cx="5590103" cy="2487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950"/>
                </a:lnSpc>
                <a:buNone/>
              </a:pPr>
              <a:r>
                <a:rPr lang="en-US" sz="145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PostgreSQL · Elasticsearch  · S3</a:t>
              </a:r>
              <a:endParaRPr lang="en-US" sz="1450" dirty="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44" y="828556"/>
            <a:ext cx="8461891" cy="448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Регистрация и верификация пользователя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849666" y="1720420"/>
            <a:ext cx="2903934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Основной сценарий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49666" y="2045579"/>
            <a:ext cx="6937891" cy="374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Система отображает форму регистрации с полями: Email, Пароль, Подтверждение </a:t>
            </a:r>
            <a:r>
              <a:rPr lang="en-US" sz="160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пароля</a:t>
            </a: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600" dirty="0"/>
          </a:p>
          <a:p>
            <a:pPr marL="342900" indent="-342900" algn="l">
              <a:lnSpc>
                <a:spcPts val="180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Пользователь вводит корректные данные и отправляет форму.</a:t>
            </a:r>
            <a:endParaRPr lang="en-US" sz="1600" dirty="0"/>
          </a:p>
          <a:p>
            <a:pPr marL="342900" indent="-342900" algn="l">
              <a:lnSpc>
                <a:spcPts val="180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Система проверяет уникальность email и сложность пароля.</a:t>
            </a:r>
            <a:endParaRPr lang="en-US" sz="1600" dirty="0"/>
          </a:p>
          <a:p>
            <a:pPr marL="342900" indent="-342900" algn="l">
              <a:lnSpc>
                <a:spcPts val="1800"/>
              </a:lnSpc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Система создает учетную запись в статусе «Ожидает подтверждения» и генерирует уникальный код/ссылку для подтверждения email.</a:t>
            </a:r>
            <a:endParaRPr lang="en-US" sz="1600" dirty="0"/>
          </a:p>
          <a:p>
            <a:pPr marL="342900" indent="-342900" algn="l">
              <a:lnSpc>
                <a:spcPts val="1800"/>
              </a:lnSpc>
              <a:buSzPct val="100000"/>
              <a:buFont typeface="+mj-lt"/>
              <a:buAutoNum type="arabicPeriod" startAt="5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Система отправляет письмо со ссылкой для подтверждения на указанный email.</a:t>
            </a:r>
            <a:endParaRPr lang="en-US" sz="1600" dirty="0"/>
          </a:p>
          <a:p>
            <a:pPr marL="342900" indent="-342900" algn="l">
              <a:lnSpc>
                <a:spcPts val="1800"/>
              </a:lnSpc>
              <a:buSzPct val="100000"/>
              <a:buFont typeface="+mj-lt"/>
              <a:buAutoNum type="arabicPeriod" startAt="6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Пользователь переходит по ссылке из письма. Система подтверждает email и предлагает привязать Telegram аккаунт.</a:t>
            </a:r>
            <a:endParaRPr lang="en-US" sz="1600" dirty="0"/>
          </a:p>
          <a:p>
            <a:pPr marL="342900" indent="-342900" algn="l">
              <a:lnSpc>
                <a:spcPts val="1800"/>
              </a:lnSpc>
              <a:buSzPct val="100000"/>
              <a:buFont typeface="+mj-lt"/>
              <a:buAutoNum type="arabicPeriod" startAt="7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Пользователь нажимает кнопку «Подтвердить через Telegram». Система перенаправляет пользователя в Telegram-бота или отображает QR-код/код для ввода в боте.</a:t>
            </a:r>
            <a:endParaRPr lang="en-US" sz="1600" dirty="0"/>
          </a:p>
          <a:p>
            <a:pPr marL="342900" indent="-342900" algn="l">
              <a:lnSpc>
                <a:spcPts val="1800"/>
              </a:lnSpc>
              <a:buSzPct val="100000"/>
              <a:buFont typeface="+mj-lt"/>
              <a:buAutoNum type="arabicPeriod" startAt="8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Пользователь запускает Telegram-бота и вводит код подтверждения (или переходит по ссылке).</a:t>
            </a:r>
            <a:endParaRPr lang="en-US" sz="1600" dirty="0"/>
          </a:p>
          <a:p>
            <a:pPr marL="342900" indent="-342900" algn="l">
              <a:lnSpc>
                <a:spcPts val="1800"/>
              </a:lnSpc>
              <a:buSzPct val="100000"/>
              <a:buFont typeface="+mj-lt"/>
              <a:buAutoNum type="arabicPeriod" startAt="9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Telegram-бот передает системе уникальный ID пользователя Telegram.</a:t>
            </a:r>
            <a:endParaRPr lang="en-US" sz="1600" dirty="0"/>
          </a:p>
          <a:p>
            <a:pPr marL="342900" indent="-342900" algn="l">
              <a:lnSpc>
                <a:spcPts val="1800"/>
              </a:lnSpc>
              <a:buSzPct val="100000"/>
              <a:buFont typeface="+mj-lt"/>
              <a:buAutoNum type="arabicPeriod" startAt="10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Система связывает Telegram ID с учетной записью пользователя. Аккаунт активируется окончательно.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49666" y="6445928"/>
            <a:ext cx="1794629" cy="224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Постусловие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49666" y="6699885"/>
            <a:ext cx="6937891" cy="38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Пользователь успешно зарегистрирован и автоматически авторизован в системе. Telegram аккаунт привязан.</a:t>
            </a:r>
            <a:endParaRPr lang="en-US" sz="1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A5E36A-8C37-41C6-A4B4-780CC4F65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432" y="1519934"/>
            <a:ext cx="4972709" cy="63108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16518"/>
            <a:ext cx="8900517" cy="66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Проектирование базы данных</a:t>
            </a:r>
            <a:endParaRPr lang="en-US" sz="4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68" y="1750398"/>
            <a:ext cx="5644298" cy="57289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6935033" y="2595324"/>
            <a:ext cx="2664619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Пользователи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6935033" y="3150989"/>
            <a:ext cx="6839069" cy="342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Верификация через email и Telegram.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935033" y="3716417"/>
            <a:ext cx="2664619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Объявления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6935033" y="4272082"/>
            <a:ext cx="6839069" cy="342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До 10 фото в S3, калькулятор цены на основе </a:t>
            </a:r>
            <a:r>
              <a:rPr lang="en-US" sz="18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ценаЗаЧас</a:t>
            </a: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935033" y="4837509"/>
            <a:ext cx="4214098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Бронирования и транзакции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6935033" y="5393174"/>
            <a:ext cx="6839069" cy="685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ACID-транзакции в PostgreSQL. Аренды хранят статус платы и залог — основа логики сделок.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935033" y="6301383"/>
            <a:ext cx="2664619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205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2703" y="588764"/>
            <a:ext cx="5288875" cy="70519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798" y="704731"/>
            <a:ext cx="7416403" cy="1121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latin typeface="Montserrat Bold" pitchFamily="34" charset="0"/>
                <a:ea typeface="Montserrat Bold" pitchFamily="34" charset="-122"/>
                <a:cs typeface="Montserrat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Прототипирование</a:t>
            </a: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: UI-интерфейсы</a:t>
            </a:r>
            <a:endParaRPr lang="en-US" sz="3500" dirty="0"/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CE09D60E-B0D5-4EF4-ADA1-A13E605D9B1F}"/>
              </a:ext>
            </a:extLst>
          </p:cNvPr>
          <p:cNvGrpSpPr/>
          <p:nvPr/>
        </p:nvGrpSpPr>
        <p:grpSpPr>
          <a:xfrm>
            <a:off x="863798" y="2063472"/>
            <a:ext cx="7416403" cy="1098947"/>
            <a:chOff x="863798" y="2063472"/>
            <a:chExt cx="7416403" cy="1098947"/>
          </a:xfrm>
        </p:grpSpPr>
        <p:sp>
          <p:nvSpPr>
            <p:cNvPr id="5" name="Text 2"/>
            <p:cNvSpPr/>
            <p:nvPr/>
          </p:nvSpPr>
          <p:spPr>
            <a:xfrm>
              <a:off x="863798" y="2063472"/>
              <a:ext cx="394930" cy="246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1550" dirty="0">
                  <a:solidFill>
                    <a:srgbClr val="3D3838"/>
                  </a:solidFill>
                  <a:latin typeface="Montserrat Light" pitchFamily="34" charset="0"/>
                  <a:ea typeface="Montserrat Light" pitchFamily="34" charset="-122"/>
                  <a:cs typeface="Montserrat Light" pitchFamily="34" charset="-120"/>
                </a:rPr>
                <a:t>01</a:t>
              </a:r>
              <a:endParaRPr lang="en-US" sz="1550" dirty="0"/>
            </a:p>
          </p:txBody>
        </p:sp>
        <p:sp>
          <p:nvSpPr>
            <p:cNvPr id="6" name="Shape 3"/>
            <p:cNvSpPr/>
            <p:nvPr/>
          </p:nvSpPr>
          <p:spPr>
            <a:xfrm>
              <a:off x="863798" y="2376130"/>
              <a:ext cx="7416403" cy="22860"/>
            </a:xfrm>
            <a:prstGeom prst="rect">
              <a:avLst/>
            </a:prstGeom>
            <a:solidFill>
              <a:srgbClr val="2D2E34"/>
            </a:solidFill>
            <a:ln/>
          </p:spPr>
        </p:sp>
        <p:sp>
          <p:nvSpPr>
            <p:cNvPr id="7" name="Text 4"/>
            <p:cNvSpPr/>
            <p:nvPr/>
          </p:nvSpPr>
          <p:spPr>
            <a:xfrm>
              <a:off x="863798" y="2520553"/>
              <a:ext cx="2243852" cy="28051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750" b="1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UI-01 / UI-02</a:t>
              </a:r>
              <a:endParaRPr lang="en-US" sz="17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863798" y="2895838"/>
              <a:ext cx="7416403" cy="2665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155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Вход/регистрация · Главная страница лентой и категориями</a:t>
              </a:r>
              <a:endParaRPr lang="en-US" sz="1550" dirty="0"/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026927B8-B6C4-4B34-9CE9-19685F81A4CA}"/>
              </a:ext>
            </a:extLst>
          </p:cNvPr>
          <p:cNvGrpSpPr/>
          <p:nvPr/>
        </p:nvGrpSpPr>
        <p:grpSpPr>
          <a:xfrm>
            <a:off x="863798" y="3468291"/>
            <a:ext cx="7416403" cy="1098947"/>
            <a:chOff x="863798" y="3468291"/>
            <a:chExt cx="7416403" cy="1098947"/>
          </a:xfrm>
        </p:grpSpPr>
        <p:sp>
          <p:nvSpPr>
            <p:cNvPr id="9" name="Text 6"/>
            <p:cNvSpPr/>
            <p:nvPr/>
          </p:nvSpPr>
          <p:spPr>
            <a:xfrm>
              <a:off x="863798" y="3468291"/>
              <a:ext cx="394930" cy="246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1550" dirty="0">
                  <a:solidFill>
                    <a:srgbClr val="3D3838"/>
                  </a:solidFill>
                  <a:latin typeface="Montserrat Light" pitchFamily="34" charset="0"/>
                  <a:ea typeface="Montserrat Light" pitchFamily="34" charset="-122"/>
                  <a:cs typeface="Montserrat Light" pitchFamily="34" charset="-120"/>
                </a:rPr>
                <a:t>02</a:t>
              </a:r>
              <a:endParaRPr lang="en-US" sz="155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863798" y="3780949"/>
              <a:ext cx="7416403" cy="22860"/>
            </a:xfrm>
            <a:prstGeom prst="rect">
              <a:avLst/>
            </a:prstGeom>
            <a:solidFill>
              <a:srgbClr val="2D2E34"/>
            </a:solidFill>
            <a:ln/>
          </p:spPr>
        </p:sp>
        <p:sp>
          <p:nvSpPr>
            <p:cNvPr id="11" name="Text 8"/>
            <p:cNvSpPr/>
            <p:nvPr/>
          </p:nvSpPr>
          <p:spPr>
            <a:xfrm>
              <a:off x="863798" y="3925372"/>
              <a:ext cx="2243852" cy="28051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750" b="1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UI-03 / UI-04</a:t>
              </a:r>
              <a:endParaRPr lang="en-US" sz="175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863798" y="4300657"/>
              <a:ext cx="7416403" cy="2665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155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Карточка товара с календарём</a:t>
              </a:r>
              <a:endParaRPr lang="en-US" sz="1550" dirty="0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CA6E23EA-268C-4AAA-8EA4-C00C0F773CC5}"/>
              </a:ext>
            </a:extLst>
          </p:cNvPr>
          <p:cNvGrpSpPr/>
          <p:nvPr/>
        </p:nvGrpSpPr>
        <p:grpSpPr>
          <a:xfrm>
            <a:off x="863798" y="4873109"/>
            <a:ext cx="7416403" cy="1098947"/>
            <a:chOff x="863798" y="4873109"/>
            <a:chExt cx="7416403" cy="1098947"/>
          </a:xfrm>
        </p:grpSpPr>
        <p:sp>
          <p:nvSpPr>
            <p:cNvPr id="13" name="Text 10"/>
            <p:cNvSpPr/>
            <p:nvPr/>
          </p:nvSpPr>
          <p:spPr>
            <a:xfrm>
              <a:off x="863798" y="4873109"/>
              <a:ext cx="394930" cy="246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1550" dirty="0">
                  <a:solidFill>
                    <a:srgbClr val="3D3838"/>
                  </a:solidFill>
                  <a:latin typeface="Montserrat Light" pitchFamily="34" charset="0"/>
                  <a:ea typeface="Montserrat Light" pitchFamily="34" charset="-122"/>
                  <a:cs typeface="Montserrat Light" pitchFamily="34" charset="-120"/>
                </a:rPr>
                <a:t>03</a:t>
              </a:r>
              <a:endParaRPr lang="en-US" sz="1550" dirty="0"/>
            </a:p>
          </p:txBody>
        </p:sp>
        <p:sp>
          <p:nvSpPr>
            <p:cNvPr id="14" name="Shape 11"/>
            <p:cNvSpPr/>
            <p:nvPr/>
          </p:nvSpPr>
          <p:spPr>
            <a:xfrm>
              <a:off x="863798" y="5185767"/>
              <a:ext cx="7416403" cy="22860"/>
            </a:xfrm>
            <a:prstGeom prst="rect">
              <a:avLst/>
            </a:prstGeom>
            <a:solidFill>
              <a:srgbClr val="2D2E34"/>
            </a:solidFill>
            <a:ln/>
          </p:spPr>
        </p:sp>
        <p:sp>
          <p:nvSpPr>
            <p:cNvPr id="15" name="Text 12"/>
            <p:cNvSpPr/>
            <p:nvPr/>
          </p:nvSpPr>
          <p:spPr>
            <a:xfrm>
              <a:off x="863798" y="5330190"/>
              <a:ext cx="2243852" cy="28051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750" b="1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UI-05 / UI-06</a:t>
              </a:r>
              <a:endParaRPr lang="en-US" sz="175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863798" y="5705475"/>
              <a:ext cx="7416403" cy="2665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155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Подтверждение бронирования (стоимость, залог) · Форма создания объявления</a:t>
              </a:r>
              <a:endParaRPr lang="en-US" sz="1550" dirty="0"/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0E525B38-E5EA-49B5-8F5E-A1117BDEA431}"/>
              </a:ext>
            </a:extLst>
          </p:cNvPr>
          <p:cNvGrpSpPr/>
          <p:nvPr/>
        </p:nvGrpSpPr>
        <p:grpSpPr>
          <a:xfrm>
            <a:off x="863798" y="6277928"/>
            <a:ext cx="7416403" cy="1098946"/>
            <a:chOff x="863798" y="6277928"/>
            <a:chExt cx="7416403" cy="1098946"/>
          </a:xfrm>
        </p:grpSpPr>
        <p:sp>
          <p:nvSpPr>
            <p:cNvPr id="17" name="Text 14"/>
            <p:cNvSpPr/>
            <p:nvPr/>
          </p:nvSpPr>
          <p:spPr>
            <a:xfrm>
              <a:off x="863798" y="6277928"/>
              <a:ext cx="394930" cy="2468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1550" dirty="0">
                  <a:solidFill>
                    <a:srgbClr val="3D3838"/>
                  </a:solidFill>
                  <a:latin typeface="Montserrat Light" pitchFamily="34" charset="0"/>
                  <a:ea typeface="Montserrat Light" pitchFamily="34" charset="-122"/>
                  <a:cs typeface="Montserrat Light" pitchFamily="34" charset="-120"/>
                </a:rPr>
                <a:t>04</a:t>
              </a:r>
              <a:endParaRPr lang="en-US" sz="1550" dirty="0"/>
            </a:p>
          </p:txBody>
        </p:sp>
        <p:sp>
          <p:nvSpPr>
            <p:cNvPr id="18" name="Shape 15"/>
            <p:cNvSpPr/>
            <p:nvPr/>
          </p:nvSpPr>
          <p:spPr>
            <a:xfrm>
              <a:off x="863798" y="6590586"/>
              <a:ext cx="7416403" cy="22860"/>
            </a:xfrm>
            <a:prstGeom prst="rect">
              <a:avLst/>
            </a:prstGeom>
            <a:solidFill>
              <a:srgbClr val="2D2E34"/>
            </a:solidFill>
            <a:ln/>
          </p:spPr>
        </p:sp>
        <p:sp>
          <p:nvSpPr>
            <p:cNvPr id="19" name="Text 16"/>
            <p:cNvSpPr/>
            <p:nvPr/>
          </p:nvSpPr>
          <p:spPr>
            <a:xfrm>
              <a:off x="863798" y="6735008"/>
              <a:ext cx="2329339" cy="28051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750" b="1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UI-07 / UI-08 / UI-09</a:t>
              </a:r>
              <a:endParaRPr lang="en-US" sz="175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863798" y="7110293"/>
              <a:ext cx="7416403" cy="2665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050"/>
                </a:lnSpc>
                <a:buNone/>
              </a:pPr>
              <a:r>
                <a:rPr lang="en-US" sz="155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Личный кабинет (ARS, вещи, аренды)</a:t>
              </a:r>
              <a:endParaRPr lang="en-US" sz="1550" dirty="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9346785" y="1293218"/>
            <a:ext cx="4214979" cy="111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ru-RU" sz="1900" dirty="0">
                <a:solidFill>
                  <a:srgbClr val="3D3838"/>
                </a:solidFill>
                <a:latin typeface="Source Sans 3" pitchFamily="34" charset="0"/>
              </a:rPr>
              <a:t>Мы использовали </a:t>
            </a:r>
            <a:r>
              <a:rPr lang="en-GB" sz="1900" dirty="0">
                <a:latin typeface="Source Sans 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Trello</a:t>
            </a:r>
            <a:r>
              <a:rPr lang="en-GB" sz="1900" dirty="0">
                <a:solidFill>
                  <a:srgbClr val="3D3838"/>
                </a:solidFill>
                <a:latin typeface="Source Sans 3" pitchFamily="34" charset="0"/>
              </a:rPr>
              <a:t> </a:t>
            </a:r>
            <a:r>
              <a:rPr lang="ru-RU" sz="1900" dirty="0">
                <a:solidFill>
                  <a:srgbClr val="3D3838"/>
                </a:solidFill>
                <a:latin typeface="Source Sans 3" pitchFamily="34" charset="0"/>
              </a:rPr>
              <a:t>для разбиения проекта на задачи их приоритезации и</a:t>
            </a:r>
            <a:r>
              <a:rPr lang="en-GB" sz="1900" dirty="0">
                <a:solidFill>
                  <a:srgbClr val="3D3838"/>
                </a:solidFill>
                <a:latin typeface="Source Sans 3" pitchFamily="34" charset="0"/>
              </a:rPr>
              <a:t> </a:t>
            </a:r>
            <a:r>
              <a:rPr lang="ru-RU" sz="1900" dirty="0">
                <a:solidFill>
                  <a:srgbClr val="3D3838"/>
                </a:solidFill>
                <a:latin typeface="Source Sans 3" pitchFamily="34" charset="0"/>
              </a:rPr>
              <a:t>командного взаимодействия 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6350198" y="5288042"/>
            <a:ext cx="1417320" cy="444103"/>
          </a:xfrm>
          <a:prstGeom prst="roundRect">
            <a:avLst>
              <a:gd name="adj" fmla="val 6670"/>
            </a:avLst>
          </a:prstGeom>
          <a:solidFill>
            <a:srgbClr val="E4E4E7"/>
          </a:solidFill>
          <a:ln/>
        </p:spPr>
      </p:sp>
      <p:sp>
        <p:nvSpPr>
          <p:cNvPr id="7" name="Text 4"/>
          <p:cNvSpPr/>
          <p:nvPr/>
        </p:nvSpPr>
        <p:spPr>
          <a:xfrm>
            <a:off x="6498193" y="5361980"/>
            <a:ext cx="1121331" cy="296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АПРЕЛЬ 2026</a:t>
            </a:r>
            <a:endParaRPr lang="en-US" sz="155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0853FD8-E96F-4BF6-BE2D-993BC6992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370" y="1308721"/>
            <a:ext cx="8355343" cy="53762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0A322CB8-F305-44F5-A6CE-10DDF91DFC1B}"/>
              </a:ext>
            </a:extLst>
          </p:cNvPr>
          <p:cNvSpPr/>
          <p:nvPr/>
        </p:nvSpPr>
        <p:spPr>
          <a:xfrm>
            <a:off x="478208" y="272165"/>
            <a:ext cx="4768334" cy="59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Планирование</a:t>
            </a:r>
            <a:endParaRPr lang="en-US" sz="375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5A29669-2B5A-4F0B-A4E9-97C5173CBA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7829" y="2758343"/>
            <a:ext cx="3488517" cy="47089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33292" y="466094"/>
            <a:ext cx="4768334" cy="59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Планирование</a:t>
            </a:r>
            <a:endParaRPr lang="en-US" sz="3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6549" y="1062121"/>
            <a:ext cx="6571538" cy="6338448"/>
          </a:xfrm>
          <a:prstGeom prst="rect">
            <a:avLst/>
          </a:prstGeom>
        </p:spPr>
      </p:pic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B84B1695-495E-49C4-8BB8-343CB0315D5E}"/>
              </a:ext>
            </a:extLst>
          </p:cNvPr>
          <p:cNvSpPr/>
          <p:nvPr/>
        </p:nvSpPr>
        <p:spPr>
          <a:xfrm>
            <a:off x="4296579" y="1658148"/>
            <a:ext cx="1454226" cy="30847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Будущий модуль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AE9002BA-AEE6-4EF0-BE77-440CDCCD2358}"/>
              </a:ext>
            </a:extLst>
          </p:cNvPr>
          <p:cNvSpPr/>
          <p:nvPr/>
        </p:nvSpPr>
        <p:spPr>
          <a:xfrm>
            <a:off x="3160005" y="3310988"/>
            <a:ext cx="1454226" cy="30847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Будущий модуль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5546EAD2-2547-45B8-A025-62D40C40065B}"/>
              </a:ext>
            </a:extLst>
          </p:cNvPr>
          <p:cNvSpPr/>
          <p:nvPr/>
        </p:nvSpPr>
        <p:spPr>
          <a:xfrm>
            <a:off x="6665205" y="7092097"/>
            <a:ext cx="1454226" cy="30847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Будущий модуль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C6E0EB08-6204-42C9-9DCA-9E25A33CCBBB}"/>
              </a:ext>
            </a:extLst>
          </p:cNvPr>
          <p:cNvSpPr/>
          <p:nvPr/>
        </p:nvSpPr>
        <p:spPr>
          <a:xfrm>
            <a:off x="10170405" y="5041123"/>
            <a:ext cx="1454226" cy="30847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Будущий модуль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2107" y="240758"/>
            <a:ext cx="8243737" cy="814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latin typeface="Montserrat Bold" pitchFamily="34" charset="0"/>
                <a:ea typeface="Montserrat Bold" pitchFamily="34" charset="-122"/>
                <a:cs typeface="Montserrat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Разработка</a:t>
            </a: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— Активность</a:t>
            </a:r>
            <a:endParaRPr lang="en-US" sz="4400" dirty="0"/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F8921D41-51F0-4AD0-A944-6E3570CCC2B9}"/>
              </a:ext>
            </a:extLst>
          </p:cNvPr>
          <p:cNvGrpSpPr/>
          <p:nvPr/>
        </p:nvGrpSpPr>
        <p:grpSpPr>
          <a:xfrm>
            <a:off x="279904" y="1402920"/>
            <a:ext cx="3553897" cy="1991677"/>
            <a:chOff x="279904" y="1402920"/>
            <a:chExt cx="3553897" cy="1991677"/>
          </a:xfrm>
        </p:grpSpPr>
        <p:sp>
          <p:nvSpPr>
            <p:cNvPr id="4" name="Text 1"/>
            <p:cNvSpPr/>
            <p:nvPr/>
          </p:nvSpPr>
          <p:spPr>
            <a:xfrm>
              <a:off x="279904" y="1402920"/>
              <a:ext cx="3553897" cy="8145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6400"/>
                </a:lnSpc>
                <a:buNone/>
              </a:pPr>
              <a:r>
                <a:rPr lang="ru-RU" sz="6400" b="1" dirty="0">
                  <a:solidFill>
                    <a:srgbClr val="3D3838"/>
                  </a:solidFill>
                  <a:latin typeface="Montserrat Bold" pitchFamily="34" charset="0"/>
                </a:rPr>
                <a:t>23</a:t>
              </a:r>
              <a:endParaRPr lang="en-US" sz="64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654356" y="2525799"/>
              <a:ext cx="2804874" cy="35063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Pull Requests</a:t>
              </a:r>
              <a:endParaRPr lang="en-US" sz="22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279904" y="3024432"/>
              <a:ext cx="3553897" cy="3701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900"/>
                </a:lnSpc>
                <a:buNone/>
              </a:pPr>
              <a:r>
                <a:rPr lang="en-US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Активных </a:t>
              </a:r>
              <a:r>
                <a:rPr lang="en-US" sz="1900" dirty="0" err="1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за</a:t>
              </a:r>
              <a:r>
                <a:rPr lang="en-US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 </a:t>
              </a:r>
              <a:r>
                <a:rPr lang="ru-RU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неделю</a:t>
              </a:r>
              <a:endParaRPr lang="en-US" sz="1900" dirty="0"/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4805F2AF-53EC-4D1C-87CA-0BAD1D974450}"/>
              </a:ext>
            </a:extLst>
          </p:cNvPr>
          <p:cNvGrpSpPr/>
          <p:nvPr/>
        </p:nvGrpSpPr>
        <p:grpSpPr>
          <a:xfrm>
            <a:off x="5163621" y="1349992"/>
            <a:ext cx="3554016" cy="1991677"/>
            <a:chOff x="5163621" y="1349992"/>
            <a:chExt cx="3554016" cy="1991677"/>
          </a:xfrm>
        </p:grpSpPr>
        <p:sp>
          <p:nvSpPr>
            <p:cNvPr id="7" name="Text 4"/>
            <p:cNvSpPr/>
            <p:nvPr/>
          </p:nvSpPr>
          <p:spPr>
            <a:xfrm>
              <a:off x="5163621" y="1349992"/>
              <a:ext cx="3554016" cy="8145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6400"/>
                </a:lnSpc>
                <a:buNone/>
              </a:pPr>
              <a:r>
                <a:rPr lang="ru-RU" sz="6400" b="1" dirty="0">
                  <a:solidFill>
                    <a:srgbClr val="3D3838"/>
                  </a:solidFill>
                  <a:latin typeface="Montserrat Bold" pitchFamily="34" charset="0"/>
                </a:rPr>
                <a:t>33</a:t>
              </a:r>
              <a:endParaRPr lang="en-US" sz="64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5538192" y="2472871"/>
              <a:ext cx="2804874" cy="35063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Коммитов</a:t>
              </a:r>
              <a:endParaRPr lang="en-US" sz="22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5163621" y="2971504"/>
              <a:ext cx="3554016" cy="3701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900"/>
                </a:lnSpc>
                <a:buNone/>
              </a:pPr>
              <a:r>
                <a:rPr lang="ru-RU" sz="1900" dirty="0">
                  <a:solidFill>
                    <a:srgbClr val="3D3838"/>
                  </a:solidFill>
                  <a:latin typeface="Source Sans 3" pitchFamily="34" charset="0"/>
                </a:rPr>
                <a:t>33 коммита во все ветки</a:t>
              </a:r>
              <a:endParaRPr lang="en-US" sz="1900" dirty="0"/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31550B2F-6675-4F85-A0EF-5445E6DE94C8}"/>
              </a:ext>
            </a:extLst>
          </p:cNvPr>
          <p:cNvGrpSpPr/>
          <p:nvPr/>
        </p:nvGrpSpPr>
        <p:grpSpPr>
          <a:xfrm>
            <a:off x="9933923" y="1349992"/>
            <a:ext cx="3553897" cy="1991677"/>
            <a:chOff x="9933923" y="1349992"/>
            <a:chExt cx="3553897" cy="1991677"/>
          </a:xfrm>
        </p:grpSpPr>
        <p:sp>
          <p:nvSpPr>
            <p:cNvPr id="10" name="Text 7"/>
            <p:cNvSpPr/>
            <p:nvPr/>
          </p:nvSpPr>
          <p:spPr>
            <a:xfrm>
              <a:off x="9933923" y="1349992"/>
              <a:ext cx="3553897" cy="81450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6400"/>
                </a:lnSpc>
                <a:buNone/>
              </a:pPr>
              <a:r>
                <a:rPr lang="en-US" sz="6400" b="1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1</a:t>
              </a:r>
              <a:r>
                <a:rPr lang="ru-RU" sz="6400" b="1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54</a:t>
              </a:r>
              <a:endParaRPr lang="en-US" sz="64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10308375" y="2472870"/>
              <a:ext cx="2804874" cy="35063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Файлов</a:t>
              </a:r>
              <a:endParaRPr lang="en-US" sz="22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9933923" y="2971504"/>
              <a:ext cx="3553897" cy="37016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900"/>
                </a:lnSpc>
                <a:buNone/>
              </a:pPr>
              <a:r>
                <a:rPr lang="en-US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Изменено: +</a:t>
              </a:r>
              <a:r>
                <a:rPr lang="ru-RU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14</a:t>
              </a:r>
              <a:r>
                <a:rPr lang="en-US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 </a:t>
              </a:r>
              <a:r>
                <a:rPr lang="ru-RU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499</a:t>
              </a:r>
              <a:r>
                <a:rPr lang="en-US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 / −</a:t>
              </a:r>
              <a:r>
                <a:rPr lang="ru-RU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949</a:t>
              </a:r>
              <a:r>
                <a:rPr lang="en-US" sz="19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 строк</a:t>
              </a:r>
              <a:endParaRPr lang="en-US" sz="1900" dirty="0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96224EC-9CC2-43B5-AA18-2F7EDC673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140" y="3630514"/>
            <a:ext cx="7611085" cy="4319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44153"/>
            <a:ext cx="7772043" cy="666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Разработка — Code Review</a:t>
            </a:r>
            <a:endParaRPr lang="en-US" sz="4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84" y="2815061"/>
            <a:ext cx="7777282" cy="41539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 1"/>
          <p:cNvSpPr/>
          <p:nvPr/>
        </p:nvSpPr>
        <p:spPr>
          <a:xfrm>
            <a:off x="656510" y="2015806"/>
            <a:ext cx="8186618" cy="771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Автоматический code review </a:t>
            </a:r>
            <a:r>
              <a:rPr lang="en-US" sz="180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через</a:t>
            </a: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r>
              <a:rPr lang="en-US" sz="1800" b="1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qodo</a:t>
            </a: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и CI/CD пайплайн с </a:t>
            </a:r>
            <a:r>
              <a:rPr lang="ru-RU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11</a:t>
            </a: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 workflow </a:t>
            </a:r>
            <a:r>
              <a:rPr lang="ru-RU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запусками</a:t>
            </a: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4E3F6E9-3A34-4B50-B87F-62AB4F8B2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654" y="2815061"/>
            <a:ext cx="5048100" cy="48702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680" y="509028"/>
            <a:ext cx="10186035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Разработка — Структура проекта</a:t>
            </a:r>
            <a:endParaRPr lang="en-US" sz="4400" dirty="0"/>
          </a:p>
        </p:txBody>
      </p:sp>
      <p:sp>
        <p:nvSpPr>
          <p:cNvPr id="7" name="Text 1"/>
          <p:cNvSpPr/>
          <p:nvPr/>
        </p:nvSpPr>
        <p:spPr>
          <a:xfrm>
            <a:off x="10730430" y="2970719"/>
            <a:ext cx="3503362" cy="3441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Монорепозиторий: </a:t>
            </a: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backend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(NestJS, Prisma, модули auth, bookings, payment-methods и др.) и </a:t>
            </a:r>
            <a:r>
              <a:rPr lang="en-US" sz="1900" b="1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frontend</a:t>
            </a:r>
            <a:r>
              <a:rPr lang="en-US" sz="1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(Vite, TypeScript). Документация, CI/CD и OpenAPI включены.</a:t>
            </a:r>
            <a:endParaRPr lang="en-US" sz="19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64AA304-FEBF-41DB-B401-1348D2994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108" y="2350866"/>
            <a:ext cx="9677208" cy="41261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72" y="611029"/>
            <a:ext cx="5255657" cy="70075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6744" y="734973"/>
            <a:ext cx="7072551" cy="655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b="1" dirty="0">
                <a:latin typeface="Montserrat Bold" pitchFamily="34" charset="0"/>
                <a:ea typeface="Montserrat Bold" pitchFamily="34" charset="-122"/>
                <a:cs typeface="Montserrat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Демонстрация продукта</a:t>
            </a:r>
            <a:endParaRPr lang="en-US" sz="4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36744" y="1714381"/>
            <a:ext cx="576977" cy="57697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36744" y="2561153"/>
            <a:ext cx="2971324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Поиск и фильтрация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6336744" y="3018353"/>
            <a:ext cx="7443311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Поиск предметов аренды</a:t>
            </a:r>
            <a:endParaRPr lang="en-US" sz="1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36744" y="3527327"/>
            <a:ext cx="576977" cy="57697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336744" y="4374099"/>
            <a:ext cx="4015740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Регистрация и авторизация</a:t>
            </a:r>
            <a:endParaRPr lang="en-US" sz="2050" dirty="0"/>
          </a:p>
        </p:txBody>
      </p:sp>
      <p:sp>
        <p:nvSpPr>
          <p:cNvPr id="10" name="Text 5"/>
          <p:cNvSpPr/>
          <p:nvPr/>
        </p:nvSpPr>
        <p:spPr>
          <a:xfrm>
            <a:off x="6336744" y="4831299"/>
            <a:ext cx="7443311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Создание аккаунта и вход в систему</a:t>
            </a:r>
            <a:endParaRPr lang="en-US" sz="18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36744" y="5342030"/>
            <a:ext cx="576977" cy="57697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36744" y="6188802"/>
            <a:ext cx="3172658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Создание объявления</a:t>
            </a:r>
            <a:endParaRPr lang="en-US" sz="2050" dirty="0"/>
          </a:p>
        </p:txBody>
      </p:sp>
      <p:sp>
        <p:nvSpPr>
          <p:cNvPr id="13" name="Text 7"/>
          <p:cNvSpPr/>
          <p:nvPr/>
        </p:nvSpPr>
        <p:spPr>
          <a:xfrm>
            <a:off x="6336744" y="6646002"/>
            <a:ext cx="7443311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Размещение предметов для аренды</a:t>
            </a:r>
            <a:endParaRPr lang="en-US" sz="1800" dirty="0"/>
          </a:p>
        </p:txBody>
      </p:sp>
    </p:spTree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398508"/>
            <a:ext cx="6138029" cy="701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Анализ результатов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86038" y="2469952"/>
            <a:ext cx="6505813" cy="4361021"/>
          </a:xfrm>
          <a:prstGeom prst="roundRect">
            <a:avLst>
              <a:gd name="adj" fmla="val 849"/>
            </a:avLst>
          </a:prstGeom>
          <a:solidFill>
            <a:srgbClr val="2D2E34"/>
          </a:solidFill>
          <a:ln/>
        </p:spPr>
      </p:sp>
      <p:sp>
        <p:nvSpPr>
          <p:cNvPr id="4" name="Text 2"/>
          <p:cNvSpPr/>
          <p:nvPr/>
        </p:nvSpPr>
        <p:spPr>
          <a:xfrm>
            <a:off x="932855" y="271676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Проблемы</a:t>
            </a:r>
            <a:endParaRPr lang="en-US" sz="2200" dirty="0"/>
          </a:p>
        </p:txBody>
      </p: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647C65FF-4300-4549-BDE6-6355C86BB18C}"/>
              </a:ext>
            </a:extLst>
          </p:cNvPr>
          <p:cNvGrpSpPr/>
          <p:nvPr/>
        </p:nvGrpSpPr>
        <p:grpSpPr>
          <a:xfrm>
            <a:off x="1025366" y="3344942"/>
            <a:ext cx="5919669" cy="740450"/>
            <a:chOff x="1025366" y="3344942"/>
            <a:chExt cx="5919669" cy="740450"/>
          </a:xfrm>
        </p:grpSpPr>
        <p:pic>
          <p:nvPicPr>
            <p:cNvPr id="5" name="Image 0" descr="preencoded.png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5366" y="3344942"/>
              <a:ext cx="370165" cy="370165"/>
            </a:xfrm>
            <a:prstGeom prst="rect">
              <a:avLst/>
            </a:prstGeom>
          </p:spPr>
        </p:pic>
        <p:sp>
          <p:nvSpPr>
            <p:cNvPr id="6" name="Text 3"/>
            <p:cNvSpPr/>
            <p:nvPr/>
          </p:nvSpPr>
          <p:spPr>
            <a:xfrm>
              <a:off x="1734979" y="3345061"/>
              <a:ext cx="5210056" cy="7403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ru-RU" sz="1900" dirty="0">
                  <a:solidFill>
                    <a:srgbClr val="FFFFFF"/>
                  </a:solidFill>
                  <a:latin typeface="Source Sans 3" pitchFamily="34" charset="0"/>
                </a:rPr>
                <a:t>Реализация надежной системы авторизации пользователя</a:t>
              </a:r>
              <a:endParaRPr lang="en-US" sz="1900" dirty="0"/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EEDF3285-0251-40DE-8B75-87BF824C8B1D}"/>
              </a:ext>
            </a:extLst>
          </p:cNvPr>
          <p:cNvGrpSpPr/>
          <p:nvPr/>
        </p:nvGrpSpPr>
        <p:grpSpPr>
          <a:xfrm>
            <a:off x="1025366" y="4578906"/>
            <a:ext cx="5919669" cy="740450"/>
            <a:chOff x="1025366" y="4578906"/>
            <a:chExt cx="5919669" cy="740450"/>
          </a:xfrm>
        </p:grpSpPr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5366" y="4578906"/>
              <a:ext cx="370165" cy="370165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1734979" y="4579025"/>
              <a:ext cx="5210056" cy="7403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ru-RU" sz="1900" dirty="0">
                  <a:solidFill>
                    <a:srgbClr val="FFFFFF"/>
                  </a:solidFill>
                  <a:latin typeface="Source Sans 3" pitchFamily="34" charset="0"/>
                </a:rPr>
                <a:t>Согласованность данных между пользователями</a:t>
              </a:r>
              <a:endParaRPr lang="en-US" sz="1900" dirty="0"/>
            </a:p>
          </p:txBody>
        </p: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7DA753A8-F881-44C3-A9AC-26ADE4D7BABB}"/>
              </a:ext>
            </a:extLst>
          </p:cNvPr>
          <p:cNvGrpSpPr/>
          <p:nvPr/>
        </p:nvGrpSpPr>
        <p:grpSpPr>
          <a:xfrm>
            <a:off x="1025366" y="5812869"/>
            <a:ext cx="5919669" cy="740450"/>
            <a:chOff x="1025366" y="5812869"/>
            <a:chExt cx="5919669" cy="740450"/>
          </a:xfrm>
        </p:grpSpPr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5366" y="5812869"/>
              <a:ext cx="370165" cy="370165"/>
            </a:xfrm>
            <a:prstGeom prst="rect">
              <a:avLst/>
            </a:prstGeom>
          </p:spPr>
        </p:pic>
        <p:sp>
          <p:nvSpPr>
            <p:cNvPr id="10" name="Text 5"/>
            <p:cNvSpPr/>
            <p:nvPr/>
          </p:nvSpPr>
          <p:spPr>
            <a:xfrm>
              <a:off x="1734979" y="5812988"/>
              <a:ext cx="5210056" cy="74033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900"/>
                </a:lnSpc>
                <a:buNone/>
              </a:pPr>
              <a:r>
                <a:rPr lang="en-US" sz="1900" dirty="0">
                  <a:solidFill>
                    <a:srgbClr val="FFFFFF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Оптимизация производительности при работе с большим количеством объявлений</a:t>
              </a:r>
              <a:endParaRPr lang="en-US" sz="1900" dirty="0"/>
            </a:p>
          </p:txBody>
        </p:sp>
      </p:grpSp>
      <p:sp>
        <p:nvSpPr>
          <p:cNvPr id="11" name="Text 6"/>
          <p:cNvSpPr/>
          <p:nvPr/>
        </p:nvSpPr>
        <p:spPr>
          <a:xfrm>
            <a:off x="7623929" y="2589535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Решения и итоги</a:t>
            </a:r>
            <a:endParaRPr lang="en-US" sz="2200" dirty="0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CAD2783B-3AC6-4E28-9843-A727969C6BFA}"/>
              </a:ext>
            </a:extLst>
          </p:cNvPr>
          <p:cNvGrpSpPr/>
          <p:nvPr/>
        </p:nvGrpSpPr>
        <p:grpSpPr>
          <a:xfrm>
            <a:off x="7716441" y="3113126"/>
            <a:ext cx="5999558" cy="1001674"/>
            <a:chOff x="7716441" y="3113126"/>
            <a:chExt cx="5999558" cy="1001674"/>
          </a:xfrm>
        </p:grpSpPr>
        <p:pic>
          <p:nvPicPr>
            <p:cNvPr id="12" name="Image 3" descr="preencoded.png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716441" y="3344942"/>
              <a:ext cx="370165" cy="370165"/>
            </a:xfrm>
            <a:prstGeom prst="rect">
              <a:avLst/>
            </a:prstGeom>
          </p:spPr>
        </p:pic>
        <p:sp>
          <p:nvSpPr>
            <p:cNvPr id="13" name="Text 7"/>
            <p:cNvSpPr/>
            <p:nvPr/>
          </p:nvSpPr>
          <p:spPr>
            <a:xfrm>
              <a:off x="8367831" y="3113126"/>
              <a:ext cx="5348168" cy="10016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ru-RU" dirty="0">
                  <a:latin typeface="Source Sans 3" panose="020B0303030403020204" pitchFamily="34" charset="0"/>
                </a:rPr>
                <a:t>Разделение короткоживущего доступа и долгоживущего обновления, плюс явная граница API через </a:t>
              </a:r>
              <a:r>
                <a:rPr lang="ru-RU" dirty="0" err="1">
                  <a:latin typeface="Source Sans 3" panose="020B0303030403020204" pitchFamily="34" charset="0"/>
                </a:rPr>
                <a:t>guards</a:t>
              </a:r>
              <a:endParaRPr lang="en-US" sz="1900" dirty="0">
                <a:latin typeface="Source Sans 3" panose="020B0303030403020204" pitchFamily="34" charset="0"/>
              </a:endParaRPr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D79A0393-8EE7-4F2A-A404-EF8D2B38C0F9}"/>
              </a:ext>
            </a:extLst>
          </p:cNvPr>
          <p:cNvGrpSpPr/>
          <p:nvPr/>
        </p:nvGrpSpPr>
        <p:grpSpPr>
          <a:xfrm>
            <a:off x="7716441" y="4405551"/>
            <a:ext cx="6801326" cy="923330"/>
            <a:chOff x="7716441" y="4405551"/>
            <a:chExt cx="6801326" cy="923330"/>
          </a:xfrm>
        </p:grpSpPr>
        <p:pic>
          <p:nvPicPr>
            <p:cNvPr id="14" name="Image 4" descr="preencoded.png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716441" y="4578906"/>
              <a:ext cx="370165" cy="370165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F105E37-7A5A-4742-A64D-0157B9CCB143}"/>
                </a:ext>
              </a:extLst>
            </p:cNvPr>
            <p:cNvSpPr txBox="1"/>
            <p:nvPr/>
          </p:nvSpPr>
          <p:spPr>
            <a:xfrm>
              <a:off x="8240792" y="4405551"/>
              <a:ext cx="627697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Source Sans 3" panose="020B0303030403020204" pitchFamily="34" charset="0"/>
                </a:rPr>
                <a:t>Одна транзакция БД на критический сценарий + явная </a:t>
              </a:r>
              <a:r>
                <a:rPr lang="ru-RU" dirty="0" err="1">
                  <a:latin typeface="Source Sans 3" panose="020B0303030403020204" pitchFamily="34" charset="0"/>
                </a:rPr>
                <a:t>сериализация</a:t>
              </a:r>
              <a:r>
                <a:rPr lang="ru-RU" dirty="0">
                  <a:latin typeface="Source Sans 3" panose="020B0303030403020204" pitchFamily="34" charset="0"/>
                </a:rPr>
                <a:t> конфликтов + доменные статусы бронирования</a:t>
              </a:r>
            </a:p>
          </p:txBody>
        </p:sp>
      </p:grp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4424B282-185A-4D2E-AC89-8107B86A0481}"/>
              </a:ext>
            </a:extLst>
          </p:cNvPr>
          <p:cNvGrpSpPr/>
          <p:nvPr/>
        </p:nvGrpSpPr>
        <p:grpSpPr>
          <a:xfrm>
            <a:off x="7716441" y="5674785"/>
            <a:ext cx="5904309" cy="923330"/>
            <a:chOff x="7716441" y="5674785"/>
            <a:chExt cx="5904309" cy="923330"/>
          </a:xfrm>
        </p:grpSpPr>
        <p:pic>
          <p:nvPicPr>
            <p:cNvPr id="16" name="Image 5" descr="preencoded.png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716441" y="5812869"/>
              <a:ext cx="370165" cy="370165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5BFD8B3-6A33-4353-947C-9795BF1179F3}"/>
                </a:ext>
              </a:extLst>
            </p:cNvPr>
            <p:cNvSpPr txBox="1"/>
            <p:nvPr/>
          </p:nvSpPr>
          <p:spPr>
            <a:xfrm>
              <a:off x="8272582" y="5674785"/>
              <a:ext cx="534816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latin typeface="Source Sans 3" panose="020B0303030403020204" pitchFamily="34" charset="0"/>
                </a:rPr>
                <a:t>Поисковый слой с пагинацией + отказоустойчивый </a:t>
              </a:r>
              <a:r>
                <a:rPr lang="ru-RU" dirty="0" err="1">
                  <a:latin typeface="Source Sans 3" panose="020B0303030403020204" pitchFamily="34" charset="0"/>
                </a:rPr>
                <a:t>fallback</a:t>
              </a:r>
              <a:r>
                <a:rPr lang="ru-RU" dirty="0">
                  <a:latin typeface="Source Sans 3" panose="020B0303030403020204" pitchFamily="34" charset="0"/>
                </a:rPr>
                <a:t> + ограничение объёма ответа</a:t>
              </a: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66" y="605195"/>
            <a:ext cx="5264348" cy="70192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0198" y="799028"/>
            <a:ext cx="5048726" cy="631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Перспективы</a:t>
            </a:r>
            <a:endParaRPr lang="en-US" sz="3950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A02DDECC-B8CB-4B52-98B9-F473C52E9F5B}"/>
              </a:ext>
            </a:extLst>
          </p:cNvPr>
          <p:cNvGrpSpPr/>
          <p:nvPr/>
        </p:nvGrpSpPr>
        <p:grpSpPr>
          <a:xfrm>
            <a:off x="6350198" y="1729859"/>
            <a:ext cx="7416403" cy="1512689"/>
            <a:chOff x="6350198" y="1729859"/>
            <a:chExt cx="7416403" cy="1512689"/>
          </a:xfrm>
        </p:grpSpPr>
        <p:sp>
          <p:nvSpPr>
            <p:cNvPr id="5" name="Shape 2"/>
            <p:cNvSpPr/>
            <p:nvPr/>
          </p:nvSpPr>
          <p:spPr>
            <a:xfrm>
              <a:off x="6350198" y="1729859"/>
              <a:ext cx="7416403" cy="1512689"/>
            </a:xfrm>
            <a:prstGeom prst="roundRect">
              <a:avLst>
                <a:gd name="adj" fmla="val 2203"/>
              </a:avLst>
            </a:prstGeom>
            <a:solidFill>
              <a:srgbClr val="F2EEEE"/>
            </a:solidFill>
            <a:ln/>
          </p:spPr>
        </p:sp>
        <p:sp>
          <p:nvSpPr>
            <p:cNvPr id="6" name="Text 3"/>
            <p:cNvSpPr/>
            <p:nvPr/>
          </p:nvSpPr>
          <p:spPr>
            <a:xfrm>
              <a:off x="6572250" y="1951911"/>
              <a:ext cx="2524363" cy="3155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1950" b="1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ИИ-функции</a:t>
              </a:r>
              <a:endParaRPr lang="en-US" sz="195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6572250" y="2387322"/>
              <a:ext cx="6972300" cy="6331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17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Добавление рекомендательной системы и оценки </a:t>
              </a:r>
              <a:r>
                <a:rPr lang="en-US" sz="1700" dirty="0" err="1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безопасности</a:t>
              </a:r>
              <a:r>
                <a:rPr lang="en-US" sz="17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 </a:t>
              </a:r>
              <a:r>
                <a:rPr lang="en-US" sz="1700" dirty="0" err="1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пользователей</a:t>
              </a:r>
              <a:r>
                <a:rPr lang="ru-RU" sz="17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 (уже реализована ИИ модерация)</a:t>
              </a:r>
              <a:endParaRPr lang="en-US" sz="1700" dirty="0"/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2287DBB2-0CDC-4C3E-81AC-9D46541B29C5}"/>
              </a:ext>
            </a:extLst>
          </p:cNvPr>
          <p:cNvGrpSpPr/>
          <p:nvPr/>
        </p:nvGrpSpPr>
        <p:grpSpPr>
          <a:xfrm>
            <a:off x="6350198" y="3442454"/>
            <a:ext cx="7416403" cy="1196102"/>
            <a:chOff x="6350198" y="3442454"/>
            <a:chExt cx="7416403" cy="1196102"/>
          </a:xfrm>
        </p:grpSpPr>
        <p:sp>
          <p:nvSpPr>
            <p:cNvPr id="8" name="Shape 5"/>
            <p:cNvSpPr/>
            <p:nvPr/>
          </p:nvSpPr>
          <p:spPr>
            <a:xfrm>
              <a:off x="6350198" y="3442454"/>
              <a:ext cx="7416403" cy="1196102"/>
            </a:xfrm>
            <a:prstGeom prst="roundRect">
              <a:avLst>
                <a:gd name="adj" fmla="val 2786"/>
              </a:avLst>
            </a:prstGeom>
            <a:solidFill>
              <a:srgbClr val="F2EEEE"/>
            </a:solidFill>
            <a:ln/>
          </p:spPr>
        </p:sp>
        <p:sp>
          <p:nvSpPr>
            <p:cNvPr id="9" name="Text 6"/>
            <p:cNvSpPr/>
            <p:nvPr/>
          </p:nvSpPr>
          <p:spPr>
            <a:xfrm>
              <a:off x="6572250" y="3664506"/>
              <a:ext cx="3064431" cy="3155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1950" b="1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Интеграция платежей</a:t>
              </a:r>
              <a:endParaRPr lang="en-US" sz="195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6572250" y="4099917"/>
              <a:ext cx="6972300" cy="3165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17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Подключение платёжных систем и управление залогами</a:t>
              </a:r>
              <a:endParaRPr lang="en-US" sz="1700" dirty="0"/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8DF3A1BD-C2BD-4A7B-83B9-164B01795511}"/>
              </a:ext>
            </a:extLst>
          </p:cNvPr>
          <p:cNvGrpSpPr/>
          <p:nvPr/>
        </p:nvGrpSpPr>
        <p:grpSpPr>
          <a:xfrm>
            <a:off x="6350198" y="4838462"/>
            <a:ext cx="7416403" cy="1196102"/>
            <a:chOff x="6350198" y="4838462"/>
            <a:chExt cx="7416403" cy="1196102"/>
          </a:xfrm>
        </p:grpSpPr>
        <p:sp>
          <p:nvSpPr>
            <p:cNvPr id="11" name="Shape 8"/>
            <p:cNvSpPr/>
            <p:nvPr/>
          </p:nvSpPr>
          <p:spPr>
            <a:xfrm>
              <a:off x="6350198" y="4838462"/>
              <a:ext cx="7416403" cy="1196102"/>
            </a:xfrm>
            <a:prstGeom prst="roundRect">
              <a:avLst>
                <a:gd name="adj" fmla="val 2786"/>
              </a:avLst>
            </a:prstGeom>
            <a:solidFill>
              <a:srgbClr val="F2EEEE"/>
            </a:solidFill>
            <a:ln/>
          </p:spPr>
        </p:sp>
        <p:sp>
          <p:nvSpPr>
            <p:cNvPr id="12" name="Text 9"/>
            <p:cNvSpPr/>
            <p:nvPr/>
          </p:nvSpPr>
          <p:spPr>
            <a:xfrm>
              <a:off x="6572250" y="5060513"/>
              <a:ext cx="3412808" cy="3155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1950" b="1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Мобильное приложение</a:t>
              </a:r>
              <a:endParaRPr lang="en-US" sz="195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6572250" y="5495925"/>
              <a:ext cx="6972300" cy="31658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17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Разработка нативных iOS и Android клиентов</a:t>
              </a:r>
              <a:endParaRPr lang="en-US" sz="1700" dirty="0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508A6F6A-407C-4634-9CCD-FA7A1B787ED5}"/>
              </a:ext>
            </a:extLst>
          </p:cNvPr>
          <p:cNvGrpSpPr/>
          <p:nvPr/>
        </p:nvGrpSpPr>
        <p:grpSpPr>
          <a:xfrm>
            <a:off x="6350198" y="6234470"/>
            <a:ext cx="7416403" cy="1389936"/>
            <a:chOff x="6350198" y="6234470"/>
            <a:chExt cx="7416403" cy="1389936"/>
          </a:xfrm>
        </p:grpSpPr>
        <p:sp>
          <p:nvSpPr>
            <p:cNvPr id="14" name="Shape 11"/>
            <p:cNvSpPr/>
            <p:nvPr/>
          </p:nvSpPr>
          <p:spPr>
            <a:xfrm>
              <a:off x="6350198" y="6234470"/>
              <a:ext cx="7416403" cy="1389936"/>
            </a:xfrm>
            <a:prstGeom prst="roundRect">
              <a:avLst>
                <a:gd name="adj" fmla="val 2786"/>
              </a:avLst>
            </a:prstGeom>
            <a:solidFill>
              <a:srgbClr val="F2EEEE"/>
            </a:solidFill>
            <a:ln/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6572250" y="6456521"/>
              <a:ext cx="2524363" cy="3155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1950" b="1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Уведомления</a:t>
              </a:r>
              <a:endParaRPr lang="en-US" sz="195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6572250" y="6891933"/>
              <a:ext cx="6972300" cy="6264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spAutoFit/>
            </a:bodyPr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ru-RU" sz="1700" dirty="0">
                  <a:solidFill>
                    <a:srgbClr val="3D3838"/>
                  </a:solidFill>
                  <a:latin typeface="Source Sans 3" pitchFamily="34" charset="0"/>
                </a:rPr>
                <a:t>Использование уведомлений для информирования пользователей о статусе аренды и сообщениях</a:t>
              </a:r>
              <a:endParaRPr lang="en-US" sz="1700" dirty="0"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54F78764-BCE9-4217-A5D5-1C092FF7C2C9}"/>
              </a:ext>
            </a:extLst>
          </p:cNvPr>
          <p:cNvSpPr/>
          <p:nvPr/>
        </p:nvSpPr>
        <p:spPr>
          <a:xfrm>
            <a:off x="5856386" y="588406"/>
            <a:ext cx="2917627" cy="631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7000" b="1" dirty="0" err="1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Rento</a:t>
            </a:r>
            <a:endParaRPr lang="en-US" sz="7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AC916BD-0ACA-459E-99A1-427C53188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5286" y="1421369"/>
            <a:ext cx="6219825" cy="621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90341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873</Words>
  <Application>Microsoft Office PowerPoint</Application>
  <PresentationFormat>Произвольный</PresentationFormat>
  <Paragraphs>149</Paragraphs>
  <Slides>19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Source Sans 3</vt:lpstr>
      <vt:lpstr>Montserrat Bold</vt:lpstr>
      <vt:lpstr>Calibri</vt:lpstr>
      <vt:lpstr>Montserrat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Fuchs</dc:creator>
  <cp:lastModifiedBy>fuchsjinx@gmail.com</cp:lastModifiedBy>
  <cp:revision>8</cp:revision>
  <dcterms:created xsi:type="dcterms:W3CDTF">2026-04-23T16:04:22Z</dcterms:created>
  <dcterms:modified xsi:type="dcterms:W3CDTF">2026-05-15T09:09:26Z</dcterms:modified>
</cp:coreProperties>
</file>